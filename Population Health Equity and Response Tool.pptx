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Libre Franklin Light"/>
      <p:regular r:id="rId14"/>
      <p:bold r:id="rId15"/>
      <p:italic r:id="rId16"/>
      <p:boldItalic r:id="rId17"/>
    </p:embeddedFont>
    <p:embeddedFont>
      <p:font typeface="Libre Franklin"/>
      <p:bold r:id="rId18"/>
      <p:boldItalic r:id="rId19"/>
    </p:embeddedFont>
    <p:embeddedFont>
      <p:font typeface="Libre Baskerville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Baskerville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ibreBaskerville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ibreFranklinLight-bold.fntdata"/><Relationship Id="rId14" Type="http://schemas.openxmlformats.org/officeDocument/2006/relationships/font" Target="fonts/LibreFranklinLight-regular.fntdata"/><Relationship Id="rId17" Type="http://schemas.openxmlformats.org/officeDocument/2006/relationships/font" Target="fonts/LibreFranklinLight-boldItalic.fntdata"/><Relationship Id="rId16" Type="http://schemas.openxmlformats.org/officeDocument/2006/relationships/font" Target="fonts/LibreFranklinLigh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ibreFranklin-boldItalic.fntdata"/><Relationship Id="rId6" Type="http://schemas.openxmlformats.org/officeDocument/2006/relationships/slide" Target="slides/slide1.xml"/><Relationship Id="rId18" Type="http://schemas.openxmlformats.org/officeDocument/2006/relationships/font" Target="fonts/LibreFranklin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hyperlink" Target="https://bc-health-dashboardant-dscjbe2qtshtpkzi6mp775.streamlit.app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214925" y="6520925"/>
            <a:ext cx="13971900" cy="25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99">
                <a:solidFill>
                  <a:srgbClr val="014E97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Population Health Equity and Response Tool</a:t>
            </a:r>
            <a:endParaRPr sz="1800"/>
          </a:p>
        </p:txBody>
      </p:sp>
      <p:sp>
        <p:nvSpPr>
          <p:cNvPr id="85" name="Google Shape;85;p13"/>
          <p:cNvSpPr/>
          <p:nvPr/>
        </p:nvSpPr>
        <p:spPr>
          <a:xfrm>
            <a:off x="3780729" y="-1581711"/>
            <a:ext cx="6062893" cy="5148652"/>
          </a:xfrm>
          <a:custGeom>
            <a:rect b="b" l="l" r="r" t="t"/>
            <a:pathLst>
              <a:path extrusionOk="0" h="5372100" w="6326018">
                <a:moveTo>
                  <a:pt x="4775348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775348" y="5372100"/>
                </a:lnTo>
                <a:lnTo>
                  <a:pt x="6326018" y="2686050"/>
                </a:lnTo>
                <a:lnTo>
                  <a:pt x="4775348" y="0"/>
                </a:lnTo>
                <a:close/>
              </a:path>
            </a:pathLst>
          </a:custGeom>
          <a:solidFill>
            <a:srgbClr val="014E97"/>
          </a:solidFill>
          <a:ln>
            <a:noFill/>
          </a:ln>
        </p:spPr>
      </p:sp>
      <p:sp>
        <p:nvSpPr>
          <p:cNvPr id="86" name="Google Shape;86;p13"/>
          <p:cNvSpPr/>
          <p:nvPr/>
        </p:nvSpPr>
        <p:spPr>
          <a:xfrm>
            <a:off x="14774843" y="-5"/>
            <a:ext cx="5783999" cy="5009483"/>
          </a:xfrm>
          <a:custGeom>
            <a:rect b="b" l="l" r="r" t="t"/>
            <a:pathLst>
              <a:path extrusionOk="0" h="5372100" w="6202680">
                <a:moveTo>
                  <a:pt x="4652010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652010" y="5372100"/>
                </a:lnTo>
                <a:lnTo>
                  <a:pt x="6202680" y="2686050"/>
                </a:lnTo>
                <a:lnTo>
                  <a:pt x="4652010" y="0"/>
                </a:lnTo>
                <a:close/>
              </a:path>
            </a:pathLst>
          </a:custGeom>
          <a:solidFill>
            <a:srgbClr val="2994E5"/>
          </a:solidFill>
          <a:ln>
            <a:noFill/>
          </a:ln>
        </p:spPr>
      </p:sp>
      <p:sp>
        <p:nvSpPr>
          <p:cNvPr id="87" name="Google Shape;87;p13"/>
          <p:cNvSpPr/>
          <p:nvPr/>
        </p:nvSpPr>
        <p:spPr>
          <a:xfrm>
            <a:off x="8292206" y="-5678257"/>
            <a:ext cx="7428341" cy="6433636"/>
          </a:xfrm>
          <a:custGeom>
            <a:rect b="b" l="l" r="r" t="t"/>
            <a:pathLst>
              <a:path extrusionOk="0" h="5372100" w="6202680">
                <a:moveTo>
                  <a:pt x="4652010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652010" y="5372100"/>
                </a:lnTo>
                <a:lnTo>
                  <a:pt x="6202680" y="2686050"/>
                </a:lnTo>
                <a:lnTo>
                  <a:pt x="4652010" y="0"/>
                </a:lnTo>
                <a:close/>
              </a:path>
            </a:pathLst>
          </a:custGeom>
          <a:solidFill>
            <a:srgbClr val="2994E5"/>
          </a:solidFill>
          <a:ln>
            <a:noFill/>
          </a:ln>
        </p:spPr>
      </p:sp>
      <p:cxnSp>
        <p:nvCxnSpPr>
          <p:cNvPr id="88" name="Google Shape;88;p13"/>
          <p:cNvCxnSpPr/>
          <p:nvPr/>
        </p:nvCxnSpPr>
        <p:spPr>
          <a:xfrm>
            <a:off x="-3933881" y="5701251"/>
            <a:ext cx="9144250" cy="0"/>
          </a:xfrm>
          <a:prstGeom prst="straightConnector1">
            <a:avLst/>
          </a:prstGeom>
          <a:noFill/>
          <a:ln cap="flat" cmpd="sng" w="38100">
            <a:solidFill>
              <a:srgbClr val="014E9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994E5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14"/>
          <p:cNvGrpSpPr/>
          <p:nvPr/>
        </p:nvGrpSpPr>
        <p:grpSpPr>
          <a:xfrm>
            <a:off x="10225744" y="-180826"/>
            <a:ext cx="8062256" cy="10467826"/>
            <a:chOff x="0" y="-47625"/>
            <a:chExt cx="2123392" cy="2756958"/>
          </a:xfrm>
        </p:grpSpPr>
        <p:sp>
          <p:nvSpPr>
            <p:cNvPr id="94" name="Google Shape;94;p14"/>
            <p:cNvSpPr/>
            <p:nvPr/>
          </p:nvSpPr>
          <p:spPr>
            <a:xfrm>
              <a:off x="0" y="0"/>
              <a:ext cx="2123392" cy="2709333"/>
            </a:xfrm>
            <a:custGeom>
              <a:rect b="b" l="l" r="r" t="t"/>
              <a:pathLst>
                <a:path extrusionOk="0" h="2709333" w="2123392">
                  <a:moveTo>
                    <a:pt x="0" y="0"/>
                  </a:moveTo>
                  <a:lnTo>
                    <a:pt x="2123392" y="0"/>
                  </a:lnTo>
                  <a:lnTo>
                    <a:pt x="21233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14E97"/>
            </a:solidFill>
            <a:ln>
              <a:noFill/>
            </a:ln>
          </p:spPr>
        </p:sp>
        <p:sp>
          <p:nvSpPr>
            <p:cNvPr id="95" name="Google Shape;95;p1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4"/>
          <p:cNvSpPr/>
          <p:nvPr/>
        </p:nvSpPr>
        <p:spPr>
          <a:xfrm>
            <a:off x="10679912" y="3070849"/>
            <a:ext cx="3086100" cy="552758"/>
          </a:xfrm>
          <a:custGeom>
            <a:rect b="b" l="l" r="r" t="t"/>
            <a:pathLst>
              <a:path extrusionOk="0" h="145582" w="812800">
                <a:moveTo>
                  <a:pt x="0" y="0"/>
                </a:moveTo>
                <a:lnTo>
                  <a:pt x="812800" y="0"/>
                </a:lnTo>
                <a:lnTo>
                  <a:pt x="812800" y="145582"/>
                </a:lnTo>
                <a:lnTo>
                  <a:pt x="0" y="14558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grpSp>
        <p:nvGrpSpPr>
          <p:cNvPr id="97" name="Google Shape;97;p14"/>
          <p:cNvGrpSpPr/>
          <p:nvPr/>
        </p:nvGrpSpPr>
        <p:grpSpPr>
          <a:xfrm>
            <a:off x="818951" y="757161"/>
            <a:ext cx="12965486" cy="8194768"/>
            <a:chOff x="-2601978" y="0"/>
            <a:chExt cx="3414778" cy="2158287"/>
          </a:xfrm>
        </p:grpSpPr>
        <p:sp>
          <p:nvSpPr>
            <p:cNvPr id="98" name="Google Shape;98;p14"/>
            <p:cNvSpPr/>
            <p:nvPr/>
          </p:nvSpPr>
          <p:spPr>
            <a:xfrm>
              <a:off x="0" y="0"/>
              <a:ext cx="812800" cy="145582"/>
            </a:xfrm>
            <a:custGeom>
              <a:rect b="b" l="l" r="r" t="t"/>
              <a:pathLst>
                <a:path extrusionOk="0" h="14558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5582"/>
                  </a:lnTo>
                  <a:lnTo>
                    <a:pt x="0" y="145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9" name="Google Shape;99;p14"/>
            <p:cNvSpPr txBox="1"/>
            <p:nvPr/>
          </p:nvSpPr>
          <p:spPr>
            <a:xfrm>
              <a:off x="-2601978" y="633687"/>
              <a:ext cx="2428500" cy="15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799">
                  <a:solidFill>
                    <a:srgbClr val="FFFFF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Public health teams today don’t have a single, clear way to identify which communities need help first. Data exists, but it’s fragmented across systems  making it difficult to prioritize action quickly, especially in crises like opioid harm.</a:t>
              </a:r>
              <a:endParaRPr sz="2700"/>
            </a:p>
          </p:txBody>
        </p:sp>
      </p:grpSp>
      <p:sp>
        <p:nvSpPr>
          <p:cNvPr id="100" name="Google Shape;100;p14"/>
          <p:cNvSpPr txBox="1"/>
          <p:nvPr/>
        </p:nvSpPr>
        <p:spPr>
          <a:xfrm>
            <a:off x="419753" y="757161"/>
            <a:ext cx="93861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75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Motivation</a:t>
            </a:r>
            <a:endParaRPr/>
          </a:p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81675" y="3429000"/>
            <a:ext cx="6954650" cy="434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994E5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5"/>
          <p:cNvGrpSpPr/>
          <p:nvPr/>
        </p:nvGrpSpPr>
        <p:grpSpPr>
          <a:xfrm>
            <a:off x="10160434" y="2928225"/>
            <a:ext cx="1604305" cy="1397500"/>
            <a:chOff x="0" y="-9525"/>
            <a:chExt cx="812800" cy="708025"/>
          </a:xfrm>
        </p:grpSpPr>
        <p:sp>
          <p:nvSpPr>
            <p:cNvPr id="107" name="Google Shape;107;p15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666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08" name="Google Shape;108;p15"/>
            <p:cNvSpPr txBox="1"/>
            <p:nvPr/>
          </p:nvSpPr>
          <p:spPr>
            <a:xfrm>
              <a:off x="114300" y="-9525"/>
              <a:ext cx="5842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FFFFFF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01.</a:t>
              </a:r>
              <a:endParaRPr/>
            </a:p>
          </p:txBody>
        </p:sp>
      </p:grpSp>
      <p:grpSp>
        <p:nvGrpSpPr>
          <p:cNvPr id="109" name="Google Shape;109;p15"/>
          <p:cNvGrpSpPr/>
          <p:nvPr/>
        </p:nvGrpSpPr>
        <p:grpSpPr>
          <a:xfrm>
            <a:off x="10160434" y="5009599"/>
            <a:ext cx="1604305" cy="1397500"/>
            <a:chOff x="0" y="-9525"/>
            <a:chExt cx="812800" cy="708025"/>
          </a:xfrm>
        </p:grpSpPr>
        <p:sp>
          <p:nvSpPr>
            <p:cNvPr id="110" name="Google Shape;110;p15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666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1" name="Google Shape;111;p15"/>
            <p:cNvSpPr txBox="1"/>
            <p:nvPr/>
          </p:nvSpPr>
          <p:spPr>
            <a:xfrm>
              <a:off x="114300" y="-9525"/>
              <a:ext cx="5842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FFFFFF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02.</a:t>
              </a:r>
              <a:endParaRPr/>
            </a:p>
          </p:txBody>
        </p:sp>
      </p:grpSp>
      <p:grpSp>
        <p:nvGrpSpPr>
          <p:cNvPr id="112" name="Google Shape;112;p15"/>
          <p:cNvGrpSpPr/>
          <p:nvPr/>
        </p:nvGrpSpPr>
        <p:grpSpPr>
          <a:xfrm>
            <a:off x="10160434" y="7453421"/>
            <a:ext cx="1604292" cy="1397488"/>
            <a:chOff x="0" y="-9525"/>
            <a:chExt cx="812800" cy="708025"/>
          </a:xfrm>
        </p:grpSpPr>
        <p:sp>
          <p:nvSpPr>
            <p:cNvPr id="113" name="Google Shape;113;p15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666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4" name="Google Shape;114;p15"/>
            <p:cNvSpPr txBox="1"/>
            <p:nvPr/>
          </p:nvSpPr>
          <p:spPr>
            <a:xfrm>
              <a:off x="114300" y="-9525"/>
              <a:ext cx="5842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FFFFFF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03.</a:t>
              </a:r>
              <a:endParaRPr/>
            </a:p>
          </p:txBody>
        </p:sp>
      </p:grpSp>
      <p:sp>
        <p:nvSpPr>
          <p:cNvPr id="115" name="Google Shape;115;p15"/>
          <p:cNvSpPr txBox="1"/>
          <p:nvPr/>
        </p:nvSpPr>
        <p:spPr>
          <a:xfrm>
            <a:off x="12891040" y="5025332"/>
            <a:ext cx="34338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Inefficient resource allocation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2119290" y="3034322"/>
            <a:ext cx="34338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Delayed Response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2637403" y="7236270"/>
            <a:ext cx="39411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Underserved communities being missed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19753" y="757161"/>
            <a:ext cx="93861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75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Problem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02401" y="2813949"/>
            <a:ext cx="9220800" cy="57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99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Right now, decision-makers have to look at multiple disconnected indicators - access to care, socioeconomic factors, wait times, and opioid harm trends- but there’s no unified way to combine them into one actionable view.</a:t>
            </a:r>
            <a:endParaRPr sz="2700"/>
          </a:p>
        </p:txBody>
      </p:sp>
      <p:sp>
        <p:nvSpPr>
          <p:cNvPr id="120" name="Google Shape;120;p15"/>
          <p:cNvSpPr txBox="1"/>
          <p:nvPr/>
        </p:nvSpPr>
        <p:spPr>
          <a:xfrm>
            <a:off x="10357765" y="1892347"/>
            <a:ext cx="3433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This leads to: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E97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6"/>
          <p:cNvGrpSpPr/>
          <p:nvPr/>
        </p:nvGrpSpPr>
        <p:grpSpPr>
          <a:xfrm>
            <a:off x="-3399096" y="-701386"/>
            <a:ext cx="11970327" cy="10988386"/>
            <a:chOff x="0" y="-47625"/>
            <a:chExt cx="812800" cy="746125"/>
          </a:xfrm>
        </p:grpSpPr>
        <p:sp>
          <p:nvSpPr>
            <p:cNvPr id="126" name="Google Shape;126;p16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2994E5"/>
            </a:solidFill>
            <a:ln>
              <a:noFill/>
            </a:ln>
          </p:spPr>
        </p:sp>
        <p:sp>
          <p:nvSpPr>
            <p:cNvPr id="127" name="Google Shape;127;p16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16"/>
          <p:cNvSpPr txBox="1"/>
          <p:nvPr/>
        </p:nvSpPr>
        <p:spPr>
          <a:xfrm>
            <a:off x="476775" y="1444963"/>
            <a:ext cx="6813000" cy="66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 we built a </a:t>
            </a:r>
            <a:r>
              <a:rPr b="1" lang="en-US" sz="50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Population Health Equity and Response Tool </a:t>
            </a:r>
            <a:r>
              <a:rPr lang="en-US" sz="50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that brings all of this together into one</a:t>
            </a:r>
            <a:endParaRPr sz="5000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platform. </a:t>
            </a:r>
            <a:r>
              <a:rPr lang="en-US" sz="75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/>
          </a:p>
        </p:txBody>
      </p:sp>
      <p:grpSp>
        <p:nvGrpSpPr>
          <p:cNvPr id="129" name="Google Shape;129;p16"/>
          <p:cNvGrpSpPr/>
          <p:nvPr/>
        </p:nvGrpSpPr>
        <p:grpSpPr>
          <a:xfrm>
            <a:off x="12670406" y="6773074"/>
            <a:ext cx="11235187" cy="10313551"/>
            <a:chOff x="0" y="-47625"/>
            <a:chExt cx="812800" cy="746125"/>
          </a:xfrm>
        </p:grpSpPr>
        <p:sp>
          <p:nvSpPr>
            <p:cNvPr id="130" name="Google Shape;130;p16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2994E5"/>
            </a:solidFill>
            <a:ln>
              <a:noFill/>
            </a:ln>
          </p:spPr>
        </p:sp>
        <p:sp>
          <p:nvSpPr>
            <p:cNvPr id="131" name="Google Shape;131;p16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2" name="Google Shape;132;p16" title="Screenshot 2026-03-28 at 2.47.41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1225" y="1444975"/>
            <a:ext cx="8840776" cy="6820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E97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 rotWithShape="1">
          <a:blip r:embed="rId3">
            <a:alphaModFix amt="70000"/>
          </a:blip>
          <a:srcRect b="7865" l="0" r="0" t="7865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" name="Google Shape;138;p17"/>
          <p:cNvGrpSpPr/>
          <p:nvPr/>
        </p:nvGrpSpPr>
        <p:grpSpPr>
          <a:xfrm>
            <a:off x="8635921" y="-1304429"/>
            <a:ext cx="13205359" cy="12122106"/>
            <a:chOff x="0" y="-47625"/>
            <a:chExt cx="812800" cy="746125"/>
          </a:xfrm>
        </p:grpSpPr>
        <p:sp>
          <p:nvSpPr>
            <p:cNvPr id="139" name="Google Shape;139;p17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14E97"/>
            </a:solidFill>
            <a:ln>
              <a:noFill/>
            </a:ln>
          </p:spPr>
        </p:sp>
        <p:sp>
          <p:nvSpPr>
            <p:cNvPr id="140" name="Google Shape;140;p17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" name="Google Shape;141;p17"/>
          <p:cNvGrpSpPr/>
          <p:nvPr/>
        </p:nvGrpSpPr>
        <p:grpSpPr>
          <a:xfrm>
            <a:off x="-5945068" y="2189125"/>
            <a:ext cx="14344585" cy="3100112"/>
            <a:chOff x="-646169" y="0"/>
            <a:chExt cx="1458969" cy="315308"/>
          </a:xfrm>
        </p:grpSpPr>
        <p:sp>
          <p:nvSpPr>
            <p:cNvPr id="142" name="Google Shape;142;p17"/>
            <p:cNvSpPr/>
            <p:nvPr/>
          </p:nvSpPr>
          <p:spPr>
            <a:xfrm>
              <a:off x="0" y="0"/>
              <a:ext cx="812800" cy="201573"/>
            </a:xfrm>
            <a:custGeom>
              <a:rect b="b" l="l" r="r" t="t"/>
              <a:pathLst>
                <a:path extrusionOk="0" h="20157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1573"/>
                  </a:lnTo>
                  <a:lnTo>
                    <a:pt x="0" y="201573"/>
                  </a:lnTo>
                  <a:close/>
                </a:path>
              </a:pathLst>
            </a:custGeom>
            <a:solidFill>
              <a:srgbClr val="2994E5"/>
            </a:solidFill>
            <a:ln>
              <a:noFill/>
            </a:ln>
          </p:spPr>
        </p:sp>
        <p:sp>
          <p:nvSpPr>
            <p:cNvPr id="143" name="Google Shape;143;p17"/>
            <p:cNvSpPr txBox="1"/>
            <p:nvPr/>
          </p:nvSpPr>
          <p:spPr>
            <a:xfrm>
              <a:off x="-646169" y="79508"/>
              <a:ext cx="812700" cy="23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3750" lIns="43750" spcFirstLastPara="1" rIns="43750" wrap="square" tIns="4375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5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17"/>
          <p:cNvSpPr txBox="1"/>
          <p:nvPr/>
        </p:nvSpPr>
        <p:spPr>
          <a:xfrm>
            <a:off x="446565" y="413336"/>
            <a:ext cx="6828900" cy="1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It helps public health teams: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931502" y="2936400"/>
            <a:ext cx="866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Identify high-risk communities </a:t>
            </a:r>
            <a:endParaRPr/>
          </a:p>
        </p:txBody>
      </p:sp>
      <p:grpSp>
        <p:nvGrpSpPr>
          <p:cNvPr id="146" name="Google Shape;146;p17"/>
          <p:cNvGrpSpPr/>
          <p:nvPr/>
        </p:nvGrpSpPr>
        <p:grpSpPr>
          <a:xfrm>
            <a:off x="-5193500" y="4513401"/>
            <a:ext cx="14791112" cy="9821477"/>
            <a:chOff x="-482961" y="0"/>
            <a:chExt cx="1295761" cy="860401"/>
          </a:xfrm>
        </p:grpSpPr>
        <p:sp>
          <p:nvSpPr>
            <p:cNvPr id="147" name="Google Shape;147;p17"/>
            <p:cNvSpPr/>
            <p:nvPr/>
          </p:nvSpPr>
          <p:spPr>
            <a:xfrm>
              <a:off x="0" y="0"/>
              <a:ext cx="812800" cy="208979"/>
            </a:xfrm>
            <a:custGeom>
              <a:rect b="b" l="l" r="r" t="t"/>
              <a:pathLst>
                <a:path extrusionOk="0" h="20897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8979"/>
                  </a:lnTo>
                  <a:lnTo>
                    <a:pt x="0" y="208979"/>
                  </a:lnTo>
                  <a:close/>
                </a:path>
              </a:pathLst>
            </a:custGeom>
            <a:solidFill>
              <a:srgbClr val="2994E5"/>
            </a:solidFill>
            <a:ln>
              <a:noFill/>
            </a:ln>
          </p:spPr>
        </p:sp>
        <p:sp>
          <p:nvSpPr>
            <p:cNvPr id="148" name="Google Shape;148;p17"/>
            <p:cNvSpPr txBox="1"/>
            <p:nvPr/>
          </p:nvSpPr>
          <p:spPr>
            <a:xfrm>
              <a:off x="-482961" y="1"/>
              <a:ext cx="8127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7"/>
          <p:cNvGrpSpPr/>
          <p:nvPr/>
        </p:nvGrpSpPr>
        <p:grpSpPr>
          <a:xfrm>
            <a:off x="446571" y="6935531"/>
            <a:ext cx="9278112" cy="9821751"/>
            <a:chOff x="0" y="-47625"/>
            <a:chExt cx="812800" cy="860425"/>
          </a:xfrm>
        </p:grpSpPr>
        <p:sp>
          <p:nvSpPr>
            <p:cNvPr id="150" name="Google Shape;150;p17"/>
            <p:cNvSpPr/>
            <p:nvPr/>
          </p:nvSpPr>
          <p:spPr>
            <a:xfrm>
              <a:off x="0" y="0"/>
              <a:ext cx="812800" cy="201199"/>
            </a:xfrm>
            <a:custGeom>
              <a:rect b="b" l="l" r="r" t="t"/>
              <a:pathLst>
                <a:path extrusionOk="0" h="20119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1199"/>
                  </a:lnTo>
                  <a:lnTo>
                    <a:pt x="0" y="201199"/>
                  </a:lnTo>
                  <a:close/>
                </a:path>
              </a:pathLst>
            </a:custGeom>
            <a:solidFill>
              <a:srgbClr val="2994E5"/>
            </a:solidFill>
            <a:ln>
              <a:noFill/>
            </a:ln>
          </p:spPr>
        </p:sp>
        <p:sp>
          <p:nvSpPr>
            <p:cNvPr id="151" name="Google Shape;151;p17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17"/>
          <p:cNvSpPr txBox="1"/>
          <p:nvPr/>
        </p:nvSpPr>
        <p:spPr>
          <a:xfrm>
            <a:off x="931501" y="5372125"/>
            <a:ext cx="810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Understand why they are vulnerable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94200" y="8175500"/>
            <a:ext cx="890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Track system pressures and harm trends</a:t>
            </a:r>
            <a:endParaRPr/>
          </a:p>
        </p:txBody>
      </p:sp>
      <p:cxnSp>
        <p:nvCxnSpPr>
          <p:cNvPr id="154" name="Google Shape;154;p17"/>
          <p:cNvCxnSpPr/>
          <p:nvPr/>
        </p:nvCxnSpPr>
        <p:spPr>
          <a:xfrm rot="-8798">
            <a:off x="-12" y="9671276"/>
            <a:ext cx="7443224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17"/>
          <p:cNvSpPr txBox="1"/>
          <p:nvPr/>
        </p:nvSpPr>
        <p:spPr>
          <a:xfrm>
            <a:off x="11938525" y="7490100"/>
            <a:ext cx="5664900" cy="23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Demo: </a:t>
            </a: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https://bc-health-dashboardant-dscjbe2qtshtpkzi6mp775.streamlit.app/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/>
          <p:nvPr/>
        </p:nvSpPr>
        <p:spPr>
          <a:xfrm>
            <a:off x="16122496" y="2571750"/>
            <a:ext cx="6056826" cy="5143500"/>
          </a:xfrm>
          <a:custGeom>
            <a:rect b="b" l="l" r="r" t="t"/>
            <a:pathLst>
              <a:path extrusionOk="0" h="5372100" w="6326018">
                <a:moveTo>
                  <a:pt x="4775348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775348" y="5372100"/>
                </a:lnTo>
                <a:lnTo>
                  <a:pt x="6326018" y="2686050"/>
                </a:lnTo>
                <a:lnTo>
                  <a:pt x="4775348" y="0"/>
                </a:lnTo>
                <a:close/>
              </a:path>
            </a:pathLst>
          </a:custGeom>
          <a:solidFill>
            <a:srgbClr val="014E97"/>
          </a:solidFill>
          <a:ln>
            <a:noFill/>
          </a:ln>
        </p:spPr>
      </p:sp>
      <p:grpSp>
        <p:nvGrpSpPr>
          <p:cNvPr id="161" name="Google Shape;161;p18"/>
          <p:cNvGrpSpPr/>
          <p:nvPr/>
        </p:nvGrpSpPr>
        <p:grpSpPr>
          <a:xfrm rot="-5400000">
            <a:off x="1587437" y="-3326525"/>
            <a:ext cx="8299767" cy="13771615"/>
            <a:chOff x="0" y="-47625"/>
            <a:chExt cx="635000" cy="1053641"/>
          </a:xfrm>
        </p:grpSpPr>
        <p:sp>
          <p:nvSpPr>
            <p:cNvPr id="162" name="Google Shape;162;p18"/>
            <p:cNvSpPr/>
            <p:nvPr/>
          </p:nvSpPr>
          <p:spPr>
            <a:xfrm>
              <a:off x="0" y="0"/>
              <a:ext cx="393053" cy="1006016"/>
            </a:xfrm>
            <a:custGeom>
              <a:rect b="b" l="l" r="r" t="t"/>
              <a:pathLst>
                <a:path extrusionOk="0" h="1006016" w="393053">
                  <a:moveTo>
                    <a:pt x="393053" y="0"/>
                  </a:moveTo>
                  <a:lnTo>
                    <a:pt x="393053" y="891716"/>
                  </a:lnTo>
                  <a:lnTo>
                    <a:pt x="196527" y="1006016"/>
                  </a:lnTo>
                  <a:lnTo>
                    <a:pt x="0" y="891716"/>
                  </a:lnTo>
                  <a:lnTo>
                    <a:pt x="0" y="0"/>
                  </a:lnTo>
                  <a:lnTo>
                    <a:pt x="393053" y="0"/>
                  </a:lnTo>
                  <a:close/>
                </a:path>
              </a:pathLst>
            </a:custGeom>
            <a:solidFill>
              <a:srgbClr val="014E97"/>
            </a:solidFill>
            <a:ln>
              <a:noFill/>
            </a:ln>
          </p:spPr>
        </p:sp>
        <p:sp>
          <p:nvSpPr>
            <p:cNvPr id="163" name="Google Shape;163;p18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18"/>
          <p:cNvSpPr txBox="1"/>
          <p:nvPr/>
        </p:nvSpPr>
        <p:spPr>
          <a:xfrm>
            <a:off x="552675" y="523900"/>
            <a:ext cx="137715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014E97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What makes this tool powerful is that it connects all three perspectives:</a:t>
            </a:r>
            <a:endParaRPr sz="5000"/>
          </a:p>
        </p:txBody>
      </p:sp>
      <p:sp>
        <p:nvSpPr>
          <p:cNvPr id="165" name="Google Shape;165;p18"/>
          <p:cNvSpPr txBox="1"/>
          <p:nvPr/>
        </p:nvSpPr>
        <p:spPr>
          <a:xfrm>
            <a:off x="310625" y="4008000"/>
            <a:ext cx="10853400" cy="27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Equity - Who is most vulnerable</a:t>
            </a:r>
            <a:endParaRPr sz="40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Opioid data - Where harm is rising</a:t>
            </a:r>
            <a:endParaRPr sz="40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Wait times - Where the system is strained</a:t>
            </a:r>
            <a:endParaRPr sz="40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55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643176" y="8226400"/>
            <a:ext cx="10188300" cy="11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16">
                <a:solidFill>
                  <a:srgbClr val="014E97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Together this helps decision-makers not just see the problem, but understand where to act first</a:t>
            </a:r>
            <a:endParaRPr sz="2100">
              <a:solidFill>
                <a:srgbClr val="014E97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E97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/>
          <p:cNvPicPr preferRelativeResize="0"/>
          <p:nvPr/>
        </p:nvPicPr>
        <p:blipFill rotWithShape="1">
          <a:blip r:embed="rId3">
            <a:alphaModFix/>
          </a:blip>
          <a:srcRect b="3198" l="0" r="0" t="22596"/>
          <a:stretch/>
        </p:blipFill>
        <p:spPr>
          <a:xfrm>
            <a:off x="11197125" y="1432913"/>
            <a:ext cx="7340726" cy="399217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633952" y="929005"/>
            <a:ext cx="113643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Impact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38896" y="2147875"/>
            <a:ext cx="12255000" cy="76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9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This tool could help public health teams: </a:t>
            </a:r>
            <a:endParaRPr sz="3599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457136" lvl="0" marL="4572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9"/>
              <a:buFont typeface="Libre Baskerville"/>
              <a:buChar char="●"/>
            </a:pPr>
            <a:r>
              <a:rPr lang="en-US" sz="359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Prioritize resource allocation</a:t>
            </a:r>
            <a:endParaRPr sz="3599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457136" lvl="0" marL="4572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9"/>
              <a:buFont typeface="Libre Baskerville"/>
              <a:buChar char="●"/>
            </a:pPr>
            <a:r>
              <a:rPr lang="en-US" sz="359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Target interventions more effectively</a:t>
            </a:r>
            <a:endParaRPr sz="3599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457136" lvl="0" marL="4572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9"/>
              <a:buFont typeface="Libre Baskerville"/>
              <a:buChar char="●"/>
            </a:pPr>
            <a:r>
              <a:rPr lang="en-US" sz="359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Communicate </a:t>
            </a:r>
            <a:r>
              <a:rPr lang="en-US" sz="359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clearly to stakeholders</a:t>
            </a:r>
            <a:endParaRPr sz="3599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9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Ultimately improving outcomes for underserved communities. </a:t>
            </a:r>
            <a:endParaRPr sz="3299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99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Our goal is simple - turn complex health data into clear, actionable insights that support faster and more equitable decisions.</a:t>
            </a:r>
            <a:endParaRPr sz="3299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16207359" y="-909100"/>
            <a:ext cx="3140317" cy="2666780"/>
          </a:xfrm>
          <a:custGeom>
            <a:rect b="b" l="l" r="r" t="t"/>
            <a:pathLst>
              <a:path extrusionOk="0" h="5372100" w="6326018">
                <a:moveTo>
                  <a:pt x="4775348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775348" y="5372100"/>
                </a:lnTo>
                <a:lnTo>
                  <a:pt x="6326018" y="2686050"/>
                </a:lnTo>
                <a:lnTo>
                  <a:pt x="4775348" y="0"/>
                </a:lnTo>
                <a:close/>
              </a:path>
            </a:pathLst>
          </a:custGeom>
          <a:solidFill>
            <a:srgbClr val="2994E5"/>
          </a:solidFill>
          <a:ln>
            <a:noFill/>
          </a:ln>
        </p:spPr>
      </p:sp>
      <p:sp>
        <p:nvSpPr>
          <p:cNvPr id="175" name="Google Shape;175;p19"/>
          <p:cNvSpPr/>
          <p:nvPr/>
        </p:nvSpPr>
        <p:spPr>
          <a:xfrm>
            <a:off x="16830445" y="8623599"/>
            <a:ext cx="2166661" cy="1839944"/>
          </a:xfrm>
          <a:custGeom>
            <a:rect b="b" l="l" r="r" t="t"/>
            <a:pathLst>
              <a:path extrusionOk="0" h="5372100" w="6326018">
                <a:moveTo>
                  <a:pt x="4775348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775348" y="5372100"/>
                </a:lnTo>
                <a:lnTo>
                  <a:pt x="6326018" y="2686050"/>
                </a:lnTo>
                <a:lnTo>
                  <a:pt x="4775348" y="0"/>
                </a:lnTo>
                <a:close/>
              </a:path>
            </a:pathLst>
          </a:custGeom>
          <a:solidFill>
            <a:srgbClr val="2994E5"/>
          </a:solid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/>
        </p:nvSpPr>
        <p:spPr>
          <a:xfrm>
            <a:off x="9420453" y="4562475"/>
            <a:ext cx="8560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014E97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you!</a:t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-2685674" y="-1089079"/>
            <a:ext cx="6499983" cy="5519833"/>
          </a:xfrm>
          <a:custGeom>
            <a:rect b="b" l="l" r="r" t="t"/>
            <a:pathLst>
              <a:path extrusionOk="0" h="5372100" w="6326018">
                <a:moveTo>
                  <a:pt x="4775348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775348" y="5372100"/>
                </a:lnTo>
                <a:lnTo>
                  <a:pt x="6326018" y="2686050"/>
                </a:lnTo>
                <a:lnTo>
                  <a:pt x="4775348" y="0"/>
                </a:lnTo>
                <a:close/>
              </a:path>
            </a:pathLst>
          </a:custGeom>
          <a:solidFill>
            <a:srgbClr val="014E97"/>
          </a:solidFill>
          <a:ln>
            <a:noFill/>
          </a:ln>
        </p:spPr>
      </p:sp>
      <p:sp>
        <p:nvSpPr>
          <p:cNvPr id="182" name="Google Shape;182;p20"/>
          <p:cNvSpPr/>
          <p:nvPr/>
        </p:nvSpPr>
        <p:spPr>
          <a:xfrm>
            <a:off x="2714482" y="-3843465"/>
            <a:ext cx="6357747" cy="5506403"/>
          </a:xfrm>
          <a:custGeom>
            <a:rect b="b" l="l" r="r" t="t"/>
            <a:pathLst>
              <a:path extrusionOk="0" h="5372100" w="6202680">
                <a:moveTo>
                  <a:pt x="4652010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652010" y="5372100"/>
                </a:lnTo>
                <a:lnTo>
                  <a:pt x="6202680" y="2686050"/>
                </a:lnTo>
                <a:lnTo>
                  <a:pt x="4652010" y="0"/>
                </a:lnTo>
                <a:close/>
              </a:path>
            </a:pathLst>
          </a:custGeom>
          <a:solidFill>
            <a:srgbClr val="2994E5"/>
          </a:solidFill>
          <a:ln>
            <a:noFill/>
          </a:ln>
        </p:spPr>
      </p:sp>
      <p:sp>
        <p:nvSpPr>
          <p:cNvPr id="183" name="Google Shape;183;p20"/>
          <p:cNvSpPr/>
          <p:nvPr/>
        </p:nvSpPr>
        <p:spPr>
          <a:xfrm>
            <a:off x="-2547606" y="4778227"/>
            <a:ext cx="6357747" cy="5506403"/>
          </a:xfrm>
          <a:custGeom>
            <a:rect b="b" l="l" r="r" t="t"/>
            <a:pathLst>
              <a:path extrusionOk="0" h="5372100" w="6202680">
                <a:moveTo>
                  <a:pt x="4652010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652010" y="5372100"/>
                </a:lnTo>
                <a:lnTo>
                  <a:pt x="6202680" y="2686050"/>
                </a:lnTo>
                <a:lnTo>
                  <a:pt x="4652010" y="0"/>
                </a:lnTo>
                <a:close/>
              </a:path>
            </a:pathLst>
          </a:custGeom>
          <a:solidFill>
            <a:srgbClr val="2994E5"/>
          </a:solidFill>
          <a:ln>
            <a:noFill/>
          </a:ln>
        </p:spPr>
      </p:sp>
      <p:sp>
        <p:nvSpPr>
          <p:cNvPr id="184" name="Google Shape;184;p20"/>
          <p:cNvSpPr/>
          <p:nvPr/>
        </p:nvSpPr>
        <p:spPr>
          <a:xfrm>
            <a:off x="2645448" y="2013996"/>
            <a:ext cx="6499983" cy="5519833"/>
          </a:xfrm>
          <a:custGeom>
            <a:rect b="b" l="l" r="r" t="t"/>
            <a:pathLst>
              <a:path extrusionOk="0" h="5372100" w="6326018">
                <a:moveTo>
                  <a:pt x="4775348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775348" y="5372100"/>
                </a:lnTo>
                <a:lnTo>
                  <a:pt x="6326018" y="2686050"/>
                </a:lnTo>
                <a:lnTo>
                  <a:pt x="4775348" y="0"/>
                </a:lnTo>
                <a:close/>
              </a:path>
            </a:pathLst>
          </a:custGeom>
          <a:solidFill>
            <a:srgbClr val="014E97"/>
          </a:solidFill>
          <a:ln>
            <a:noFill/>
          </a:ln>
        </p:spPr>
      </p:sp>
      <p:cxnSp>
        <p:nvCxnSpPr>
          <p:cNvPr id="185" name="Google Shape;185;p20"/>
          <p:cNvCxnSpPr/>
          <p:nvPr/>
        </p:nvCxnSpPr>
        <p:spPr>
          <a:xfrm>
            <a:off x="10708924" y="6115242"/>
            <a:ext cx="7579200" cy="0"/>
          </a:xfrm>
          <a:prstGeom prst="straightConnector1">
            <a:avLst/>
          </a:prstGeom>
          <a:noFill/>
          <a:ln cap="flat" cmpd="sng" w="38100">
            <a:solidFill>
              <a:srgbClr val="014E9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